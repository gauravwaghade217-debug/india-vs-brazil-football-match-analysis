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60" r:id="rId5"/>
    <p:sldId id="261" r:id="rId6"/>
    <p:sldId id="262" r:id="rId7"/>
    <p:sldId id="263"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75" d="100"/>
          <a:sy n="75" d="100"/>
        </p:scale>
        <p:origin x="-1016" y="25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B26C8F-9382-49AA-ACDA-F2598B592185}" type="datetimeFigureOut">
              <a:rPr lang="en-US" smtClean="0"/>
              <a:t>10/14/2026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07532C3-C314-4650-B70F-EEE80BF7E625}"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79243C5-1F5B-4921-8109-40FC74823973}"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14340-7305-43ED-92C1-FD1E3E46C12D}"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79243C5-1F5B-4921-8109-40FC74823973}"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14340-7305-43ED-92C1-FD1E3E46C12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79243C5-1F5B-4921-8109-40FC74823973}"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14340-7305-43ED-92C1-FD1E3E46C12D}"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79243C5-1F5B-4921-8109-40FC74823973}"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814340-7305-43ED-92C1-FD1E3E46C12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79243C5-1F5B-4921-8109-40FC74823973}"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814340-7305-43ED-92C1-FD1E3E46C12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79243C5-1F5B-4921-8109-40FC74823973}"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A814340-7305-43ED-92C1-FD1E3E46C12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9243C5-1F5B-4921-8109-40FC74823973}"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A814340-7305-43ED-92C1-FD1E3E46C12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79243C5-1F5B-4921-8109-40FC74823973}"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814340-7305-43ED-92C1-FD1E3E46C12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79243C5-1F5B-4921-8109-40FC74823973}"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814340-7305-43ED-92C1-FD1E3E46C12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79243C5-1F5B-4921-8109-40FC74823973}"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14340-7305-43ED-92C1-FD1E3E46C12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79243C5-1F5B-4921-8109-40FC74823973}"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14340-7305-43ED-92C1-FD1E3E46C12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9243C5-1F5B-4921-8109-40FC74823973}"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814340-7305-43ED-92C1-FD1E3E46C12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304800"/>
            <a:ext cx="7772400" cy="1470025"/>
          </a:xfrm>
        </p:spPr>
        <p:txBody>
          <a:bodyPr/>
          <a:lstStyle/>
          <a:p>
            <a:r>
              <a:rPr lang="en-US" b="1" dirty="0" smtClean="0"/>
              <a:t>POST-MATCH PERFORMANCE AND TACTICAL ANALYSIS</a:t>
            </a:r>
            <a:endParaRPr lang="en-US" b="1" dirty="0"/>
          </a:p>
        </p:txBody>
      </p:sp>
      <p:sp>
        <p:nvSpPr>
          <p:cNvPr id="3" name="Subtitle 2"/>
          <p:cNvSpPr>
            <a:spLocks noGrp="1"/>
          </p:cNvSpPr>
          <p:nvPr>
            <p:ph type="subTitle" idx="1"/>
          </p:nvPr>
        </p:nvSpPr>
        <p:spPr>
          <a:xfrm>
            <a:off x="1295400" y="1752600"/>
            <a:ext cx="6400800" cy="1143000"/>
          </a:xfrm>
        </p:spPr>
        <p:txBody>
          <a:bodyPr>
            <a:normAutofit/>
          </a:bodyPr>
          <a:lstStyle/>
          <a:p>
            <a:r>
              <a:rPr lang="en-US" sz="1600" dirty="0" smtClean="0"/>
              <a:t>INDIA 0–4 BRAZIL International Friendly</a:t>
            </a:r>
          </a:p>
          <a:p>
            <a:r>
              <a:rPr lang="en-US" sz="1600" dirty="0" smtClean="0"/>
              <a:t> | 3 October 2026 | Kolkata</a:t>
            </a:r>
            <a:endParaRPr lang="en-US" sz="1600" dirty="0"/>
          </a:p>
        </p:txBody>
      </p:sp>
      <p:sp>
        <p:nvSpPr>
          <p:cNvPr id="5" name="TextBox 4"/>
          <p:cNvSpPr txBox="1"/>
          <p:nvPr/>
        </p:nvSpPr>
        <p:spPr>
          <a:xfrm>
            <a:off x="609600" y="2895600"/>
            <a:ext cx="7696200" cy="2031325"/>
          </a:xfrm>
          <a:prstGeom prst="rect">
            <a:avLst/>
          </a:prstGeom>
          <a:noFill/>
        </p:spPr>
        <p:txBody>
          <a:bodyPr wrap="square" rtlCol="0">
            <a:spAutoFit/>
          </a:bodyPr>
          <a:lstStyle/>
          <a:p>
            <a:r>
              <a:rPr lang="en-US" b="1" dirty="0" smtClean="0"/>
              <a:t>Prepared by:</a:t>
            </a:r>
            <a:r>
              <a:rPr lang="en-US" dirty="0" smtClean="0"/>
              <a:t> </a:t>
            </a:r>
            <a:r>
              <a:rPr lang="en-US" dirty="0" err="1" smtClean="0"/>
              <a:t>Gaurav</a:t>
            </a:r>
            <a:r>
              <a:rPr lang="en-US" dirty="0" smtClean="0"/>
              <a:t> </a:t>
            </a:r>
            <a:r>
              <a:rPr lang="en-US" dirty="0" err="1" smtClean="0"/>
              <a:t>Waghade</a:t>
            </a:r>
            <a:endParaRPr lang="en-US" dirty="0" smtClean="0"/>
          </a:p>
          <a:p>
            <a:r>
              <a:rPr lang="en-US" b="1" dirty="0" smtClean="0"/>
              <a:t>Analysis Focus:</a:t>
            </a:r>
            <a:r>
              <a:rPr lang="en-US" dirty="0" smtClean="0"/>
              <a:t> Attacking transitions, defensive </a:t>
            </a:r>
            <a:r>
              <a:rPr lang="en-US" dirty="0" err="1" smtClean="0"/>
              <a:t>organisation</a:t>
            </a:r>
            <a:r>
              <a:rPr lang="en-US" dirty="0" smtClean="0"/>
              <a:t>, pressing, wide attacks and key match events.</a:t>
            </a:r>
          </a:p>
          <a:p>
            <a:r>
              <a:rPr lang="en-US" b="1" dirty="0" smtClean="0"/>
              <a:t>Purpose:</a:t>
            </a:r>
            <a:r>
              <a:rPr lang="en-US" dirty="0" smtClean="0"/>
              <a:t> An independent portfolio sample demonstrating how match observations can be converted into tactical interpretations and coach-facing recommendations.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0600" y="381000"/>
            <a:ext cx="6477000" cy="769441"/>
          </a:xfrm>
          <a:prstGeom prst="rect">
            <a:avLst/>
          </a:prstGeom>
          <a:noFill/>
        </p:spPr>
        <p:txBody>
          <a:bodyPr wrap="square" rtlCol="0">
            <a:spAutoFit/>
          </a:bodyPr>
          <a:lstStyle/>
          <a:p>
            <a:pPr algn="ctr"/>
            <a:r>
              <a:rPr lang="en-US" dirty="0" smtClean="0"/>
              <a:t> </a:t>
            </a:r>
            <a:r>
              <a:rPr lang="en-US" sz="4400" b="1" u="sng" dirty="0" smtClean="0"/>
              <a:t>Match Overview </a:t>
            </a:r>
          </a:p>
        </p:txBody>
      </p:sp>
      <p:sp>
        <p:nvSpPr>
          <p:cNvPr id="7" name="TextBox 6"/>
          <p:cNvSpPr txBox="1"/>
          <p:nvPr/>
        </p:nvSpPr>
        <p:spPr>
          <a:xfrm>
            <a:off x="914400" y="1676400"/>
            <a:ext cx="6705600" cy="3693319"/>
          </a:xfrm>
          <a:prstGeom prst="rect">
            <a:avLst/>
          </a:prstGeom>
          <a:noFill/>
        </p:spPr>
        <p:txBody>
          <a:bodyPr wrap="square" rtlCol="0">
            <a:spAutoFit/>
          </a:bodyPr>
          <a:lstStyle/>
          <a:p>
            <a:r>
              <a:rPr lang="en-US" b="1" dirty="0" smtClean="0"/>
              <a:t>Introduction</a:t>
            </a:r>
          </a:p>
          <a:p>
            <a:r>
              <a:rPr lang="en-US" dirty="0" smtClean="0"/>
              <a:t>The match is recorded in these working notes as India 0–4 Brazil, played on 3 October 2026 in Kolkata.</a:t>
            </a:r>
          </a:p>
          <a:p>
            <a:r>
              <a:rPr lang="en-US" dirty="0" smtClean="0"/>
              <a:t>The purpose of this report is to identify tactical patterns in India's attacking and defensive phases rather than simply restate the score.</a:t>
            </a:r>
          </a:p>
          <a:p>
            <a:endParaRPr lang="en-US" b="1" dirty="0" smtClean="0"/>
          </a:p>
          <a:p>
            <a:r>
              <a:rPr lang="en-US" b="1" dirty="0" smtClean="0"/>
              <a:t>Reported Match Context</a:t>
            </a:r>
          </a:p>
          <a:p>
            <a:r>
              <a:rPr lang="en-US" b="1" dirty="0" smtClean="0"/>
              <a:t>Fixture:</a:t>
            </a:r>
            <a:r>
              <a:rPr lang="en-US" dirty="0" smtClean="0"/>
              <a:t> India </a:t>
            </a:r>
            <a:r>
              <a:rPr lang="en-US" dirty="0" err="1" smtClean="0"/>
              <a:t>vs</a:t>
            </a:r>
            <a:r>
              <a:rPr lang="en-US" dirty="0" smtClean="0"/>
              <a:t> Brazil</a:t>
            </a:r>
            <a:br>
              <a:rPr lang="en-US" dirty="0" smtClean="0"/>
            </a:br>
            <a:r>
              <a:rPr lang="en-US" b="1" dirty="0" smtClean="0"/>
              <a:t>Score:</a:t>
            </a:r>
            <a:r>
              <a:rPr lang="en-US" dirty="0" smtClean="0"/>
              <a:t> India 0–4 Brazil</a:t>
            </a:r>
            <a:br>
              <a:rPr lang="en-US" dirty="0" smtClean="0"/>
            </a:br>
            <a:r>
              <a:rPr lang="en-US" b="1" dirty="0" smtClean="0"/>
              <a:t>Date and Venue:</a:t>
            </a:r>
            <a:r>
              <a:rPr lang="en-US" dirty="0" smtClean="0"/>
              <a:t> 3 October 2026, Salt Lake </a:t>
            </a:r>
            <a:r>
              <a:rPr lang="en-US" dirty="0" err="1" smtClean="0"/>
              <a:t>Stadium,Kolkata</a:t>
            </a:r>
            <a:r>
              <a:rPr lang="en-US" dirty="0" smtClean="0"/>
              <a:t/>
            </a:r>
            <a:br>
              <a:rPr lang="en-US" dirty="0" smtClean="0"/>
            </a:br>
            <a:r>
              <a:rPr lang="en-US" b="1" dirty="0" smtClean="0"/>
              <a:t>India's Formation:</a:t>
            </a:r>
            <a:r>
              <a:rPr lang="en-US" dirty="0" smtClean="0"/>
              <a:t> 4-2-3-1 </a:t>
            </a:r>
            <a:br>
              <a:rPr lang="en-US" dirty="0" smtClean="0"/>
            </a:br>
            <a:r>
              <a:rPr lang="en-US" b="1" dirty="0" smtClean="0"/>
              <a:t>Brazil's Formation:</a:t>
            </a:r>
            <a:r>
              <a:rPr lang="en-US" dirty="0" smtClean="0"/>
              <a:t> 4-3-3</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457200"/>
            <a:ext cx="8382000" cy="4678204"/>
          </a:xfrm>
          <a:prstGeom prst="rect">
            <a:avLst/>
          </a:prstGeom>
          <a:noFill/>
        </p:spPr>
        <p:txBody>
          <a:bodyPr wrap="square" rtlCol="0">
            <a:spAutoFit/>
          </a:bodyPr>
          <a:lstStyle/>
          <a:p>
            <a:pPr algn="ctr"/>
            <a:r>
              <a:rPr lang="en-US" sz="4000" b="1" u="sng" dirty="0" smtClean="0"/>
              <a:t>TACTICAL REVIEW</a:t>
            </a:r>
          </a:p>
          <a:p>
            <a:pPr algn="ctr"/>
            <a:endParaRPr lang="en-US" sz="4000" b="1" dirty="0" smtClean="0"/>
          </a:p>
          <a:p>
            <a:r>
              <a:rPr lang="en-US" sz="1400" b="1" dirty="0" smtClean="0"/>
              <a:t>A. India in Possession</a:t>
            </a:r>
          </a:p>
          <a:p>
            <a:r>
              <a:rPr lang="en-US" sz="1400" dirty="0"/>
              <a:t>I</a:t>
            </a:r>
            <a:r>
              <a:rPr lang="en-US" sz="1400" dirty="0" smtClean="0"/>
              <a:t> observed periods of composed passing and useful counterattacking, with attacks developed through both flanks.</a:t>
            </a:r>
          </a:p>
          <a:p>
            <a:r>
              <a:rPr lang="en-US" sz="1400" dirty="0" err="1" smtClean="0"/>
              <a:t>Riyan</a:t>
            </a:r>
            <a:r>
              <a:rPr lang="en-US" sz="1400" dirty="0" smtClean="0"/>
              <a:t> Williams and </a:t>
            </a:r>
            <a:r>
              <a:rPr lang="en-US" sz="1400" dirty="0" err="1" smtClean="0"/>
              <a:t>Ashique</a:t>
            </a:r>
            <a:r>
              <a:rPr lang="en-US" sz="1400" dirty="0" smtClean="0"/>
              <a:t> </a:t>
            </a:r>
            <a:r>
              <a:rPr lang="en-US" sz="1400" dirty="0" err="1" smtClean="0"/>
              <a:t>Kuruniyan</a:t>
            </a:r>
            <a:r>
              <a:rPr lang="en-US" sz="1400" dirty="0" smtClean="0"/>
              <a:t> were noted as wide outlets. These movements appeared to give India opportunities to advance quickly when space was available.</a:t>
            </a:r>
          </a:p>
          <a:p>
            <a:r>
              <a:rPr lang="en-US" sz="1400" dirty="0" smtClean="0"/>
              <a:t>A recurring build-up route involved direct or aerial passes from the goalkeeper and defenders towards the forwards, sometimes bypassing midfield.</a:t>
            </a:r>
          </a:p>
          <a:p>
            <a:r>
              <a:rPr lang="en-US" sz="1400" dirty="0" smtClean="0"/>
              <a:t>If repeated in the footage, this may indicate an approach to progressing beyond opposition pressure. The next questions are whether India secured the first ball and whether midfielders supported the second ball.</a:t>
            </a:r>
          </a:p>
          <a:p>
            <a:r>
              <a:rPr lang="en-US" sz="1400" b="1" dirty="0" smtClean="0"/>
              <a:t>B. India Out of Possession</a:t>
            </a:r>
          </a:p>
          <a:p>
            <a:r>
              <a:rPr lang="en-US" sz="1400" dirty="0" smtClean="0"/>
              <a:t>India appeared to use a mid-block, with an attacker and midfielder sometimes stepping forward to apply pressure.</a:t>
            </a:r>
          </a:p>
          <a:p>
            <a:r>
              <a:rPr lang="en-US" sz="1400" dirty="0" smtClean="0"/>
              <a:t>Ball recoveries and at least one pressing action leading to a counterattacking opportunity were also noted.</a:t>
            </a:r>
          </a:p>
          <a:p>
            <a:endParaRPr lang="en-US" dirty="0" smtClean="0"/>
          </a:p>
          <a:p>
            <a:endParaRPr lang="en-US" dirty="0"/>
          </a:p>
        </p:txBody>
      </p:sp>
      <p:sp>
        <p:nvSpPr>
          <p:cNvPr id="4" name="TextBox 3"/>
          <p:cNvSpPr txBox="1"/>
          <p:nvPr/>
        </p:nvSpPr>
        <p:spPr>
          <a:xfrm>
            <a:off x="457200" y="4572000"/>
            <a:ext cx="8001000" cy="2462213"/>
          </a:xfrm>
          <a:prstGeom prst="rect">
            <a:avLst/>
          </a:prstGeom>
          <a:noFill/>
        </p:spPr>
        <p:txBody>
          <a:bodyPr wrap="square" rtlCol="0">
            <a:spAutoFit/>
          </a:bodyPr>
          <a:lstStyle/>
          <a:p>
            <a:r>
              <a:rPr lang="en-US" sz="1400" dirty="0" smtClean="0"/>
              <a:t>Before presenting this as a recurring pattern, identify the exact pressing cue, supporting positions and outcome from the footage.</a:t>
            </a:r>
          </a:p>
          <a:p>
            <a:r>
              <a:rPr lang="en-US" sz="1400" dirty="0" smtClean="0"/>
              <a:t>India's defensive line appeared well aligned on several occasions, with Brazil caught offside repeatedly.</a:t>
            </a:r>
          </a:p>
          <a:p>
            <a:r>
              <a:rPr lang="en-US" sz="1400" dirty="0" smtClean="0"/>
              <a:t>This may reflect coordinated defensive-line movement. However, offside outcomes alone do not prove that a deliberate offside trap was consistently used. The timing of the defensive line's movement and the pressure on the ball should also be reviewed.</a:t>
            </a:r>
          </a:p>
          <a:p>
            <a:endParaRPr lang="en-US" sz="1400" dirty="0" smtClean="0"/>
          </a:p>
          <a:p>
            <a:endParaRPr lang="en-US" sz="1400" dirty="0" smtClean="0"/>
          </a:p>
          <a:p>
            <a:endParaRPr lang="en-US" sz="1400" dirty="0" smtClean="0"/>
          </a:p>
          <a:p>
            <a:endParaRPr lang="en-US" sz="1400" dirty="0" smtClean="0"/>
          </a:p>
          <a:p>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KEY MATCH MOMENTS</a:t>
            </a:r>
            <a:endParaRPr lang="en-US" u="sng" dirty="0"/>
          </a:p>
        </p:txBody>
      </p:sp>
      <p:sp>
        <p:nvSpPr>
          <p:cNvPr id="3" name="TextBox 2"/>
          <p:cNvSpPr txBox="1"/>
          <p:nvPr/>
        </p:nvSpPr>
        <p:spPr>
          <a:xfrm>
            <a:off x="228600" y="1447800"/>
            <a:ext cx="8686800" cy="2677656"/>
          </a:xfrm>
          <a:prstGeom prst="rect">
            <a:avLst/>
          </a:prstGeom>
          <a:noFill/>
        </p:spPr>
        <p:txBody>
          <a:bodyPr wrap="square" rtlCol="0">
            <a:spAutoFit/>
          </a:bodyPr>
          <a:lstStyle/>
          <a:p>
            <a:r>
              <a:rPr lang="en-US" sz="1400" b="1" dirty="0" smtClean="0"/>
              <a:t>Moment 1: 05:59 — India Corner and Follow-Up Attempt</a:t>
            </a:r>
          </a:p>
          <a:p>
            <a:r>
              <a:rPr lang="en-US" sz="1400" b="1" dirty="0" smtClean="0"/>
              <a:t>What happened?</a:t>
            </a:r>
            <a:endParaRPr lang="en-US" sz="1400" dirty="0" smtClean="0"/>
          </a:p>
          <a:p>
            <a:r>
              <a:rPr lang="en-US" sz="1400" dirty="0" smtClean="0"/>
              <a:t>India delivered a corner through </a:t>
            </a:r>
            <a:r>
              <a:rPr lang="en-US" sz="1400" dirty="0" err="1" smtClean="0"/>
              <a:t>Thapa</a:t>
            </a:r>
            <a:r>
              <a:rPr lang="en-US" sz="1400" dirty="0" smtClean="0"/>
              <a:t>, followed by an </a:t>
            </a:r>
            <a:r>
              <a:rPr lang="en-US" sz="1400" dirty="0" err="1" smtClean="0"/>
              <a:t>Apuia</a:t>
            </a:r>
            <a:r>
              <a:rPr lang="en-US" sz="1400" dirty="0" smtClean="0"/>
              <a:t> attempt that went off target, according to the notes.</a:t>
            </a:r>
          </a:p>
          <a:p>
            <a:r>
              <a:rPr lang="en-US" sz="1400" b="1" dirty="0" smtClean="0"/>
              <a:t>Tactical Interpretation</a:t>
            </a:r>
            <a:endParaRPr lang="en-US" sz="1400" dirty="0" smtClean="0"/>
          </a:p>
          <a:p>
            <a:r>
              <a:rPr lang="en-US" sz="1400" dirty="0" smtClean="0"/>
              <a:t>The sequence created a set-piece opportunity and a second-phase shooting action.</a:t>
            </a:r>
          </a:p>
          <a:p>
            <a:r>
              <a:rPr lang="en-US" sz="1400" dirty="0" smtClean="0"/>
              <a:t>The review should consider the delivery zone, first contact, positioning around the edge of the penalty area and whether the second ball was attacked with sufficient support.</a:t>
            </a:r>
          </a:p>
          <a:p>
            <a:r>
              <a:rPr lang="en-US" sz="1400" b="1" dirty="0" smtClean="0"/>
              <a:t>Review Focus:</a:t>
            </a:r>
            <a:endParaRPr lang="en-US" sz="1400" dirty="0" smtClean="0"/>
          </a:p>
          <a:p>
            <a:r>
              <a:rPr lang="en-US" sz="1400" dirty="0" smtClean="0"/>
              <a:t>Set-piece </a:t>
            </a:r>
            <a:r>
              <a:rPr lang="en-US" sz="1400" dirty="0" err="1" smtClean="0"/>
              <a:t>organisation</a:t>
            </a:r>
            <a:r>
              <a:rPr lang="en-US" sz="1400" dirty="0" smtClean="0"/>
              <a:t>. </a:t>
            </a:r>
          </a:p>
          <a:p>
            <a:r>
              <a:rPr lang="en-US" sz="1400" dirty="0" smtClean="0"/>
              <a:t>Second-ball reaction. </a:t>
            </a:r>
          </a:p>
          <a:p>
            <a:r>
              <a:rPr lang="en-US" sz="1400" dirty="0" smtClean="0"/>
              <a:t>Shot execution.</a:t>
            </a:r>
          </a:p>
          <a:p>
            <a:endParaRPr lang="en-US" sz="1400" dirty="0"/>
          </a:p>
        </p:txBody>
      </p:sp>
      <p:sp>
        <p:nvSpPr>
          <p:cNvPr id="4" name="TextBox 3"/>
          <p:cNvSpPr txBox="1"/>
          <p:nvPr/>
        </p:nvSpPr>
        <p:spPr>
          <a:xfrm>
            <a:off x="228600" y="4038600"/>
            <a:ext cx="8763000" cy="3385542"/>
          </a:xfrm>
          <a:prstGeom prst="rect">
            <a:avLst/>
          </a:prstGeom>
          <a:noFill/>
        </p:spPr>
        <p:txBody>
          <a:bodyPr wrap="square" rtlCol="0">
            <a:spAutoFit/>
          </a:bodyPr>
          <a:lstStyle/>
          <a:p>
            <a:r>
              <a:rPr lang="en-US" sz="1400" b="1" dirty="0" smtClean="0"/>
              <a:t>Moment 2: 06:44–07:39 — Brazil Penetration and Goalkeeper Intervention</a:t>
            </a:r>
          </a:p>
          <a:p>
            <a:r>
              <a:rPr lang="en-US" sz="1400" b="1" dirty="0" smtClean="0"/>
              <a:t>What happened?</a:t>
            </a:r>
            <a:endParaRPr lang="en-US" sz="1400" dirty="0" smtClean="0"/>
          </a:p>
          <a:p>
            <a:r>
              <a:rPr lang="en-US" sz="1400" dirty="0" err="1" smtClean="0"/>
              <a:t>Vinícius</a:t>
            </a:r>
            <a:r>
              <a:rPr lang="en-US" sz="1400" dirty="0" smtClean="0"/>
              <a:t> </a:t>
            </a:r>
            <a:r>
              <a:rPr lang="en-US" sz="1400" dirty="0" err="1" smtClean="0"/>
              <a:t>Júnior</a:t>
            </a:r>
            <a:r>
              <a:rPr lang="en-US" sz="1400" dirty="0" smtClean="0"/>
              <a:t> was noted as reaching shooting positions, with one attempt blocked and a later chance saved by </a:t>
            </a:r>
            <a:r>
              <a:rPr lang="en-US" sz="1400" dirty="0" err="1" smtClean="0"/>
              <a:t>Gurpreet</a:t>
            </a:r>
            <a:r>
              <a:rPr lang="en-US" sz="1400" dirty="0" smtClean="0"/>
              <a:t> Singh </a:t>
            </a:r>
            <a:r>
              <a:rPr lang="en-US" sz="1400" dirty="0" err="1" smtClean="0"/>
              <a:t>Sandhu</a:t>
            </a:r>
            <a:r>
              <a:rPr lang="en-US" sz="1400" dirty="0" smtClean="0"/>
              <a:t>.</a:t>
            </a:r>
          </a:p>
          <a:p>
            <a:r>
              <a:rPr lang="en-US" sz="1400" b="1" dirty="0" smtClean="0"/>
              <a:t>Tactical Interpretation</a:t>
            </a:r>
            <a:endParaRPr lang="en-US" sz="1400" dirty="0" smtClean="0"/>
          </a:p>
          <a:p>
            <a:r>
              <a:rPr lang="en-US" sz="1400" dirty="0" smtClean="0"/>
              <a:t>These events provide an opportunity to assess India's penalty-area protection and the goalkeeper's response.</a:t>
            </a:r>
          </a:p>
          <a:p>
            <a:r>
              <a:rPr lang="en-US" sz="1400" dirty="0" smtClean="0"/>
              <a:t>Review whether the shots were allowed because of space between defenders, delayed pressure on the ball or successful individual actions by the attacker.</a:t>
            </a:r>
          </a:p>
          <a:p>
            <a:r>
              <a:rPr lang="en-US" sz="1400" b="1" dirty="0" smtClean="0"/>
              <a:t>Review Focus:</a:t>
            </a:r>
            <a:endParaRPr lang="en-US" sz="1400" dirty="0" smtClean="0"/>
          </a:p>
          <a:p>
            <a:r>
              <a:rPr lang="en-US" sz="1400" dirty="0" smtClean="0"/>
              <a:t>Defending the penalty area. </a:t>
            </a:r>
          </a:p>
          <a:p>
            <a:r>
              <a:rPr lang="en-US" sz="1400" dirty="0" smtClean="0"/>
              <a:t>Pressure on the shooter. </a:t>
            </a:r>
          </a:p>
          <a:p>
            <a:r>
              <a:rPr lang="en-US" sz="1400" dirty="0" smtClean="0"/>
              <a:t>Goalkeeper positioning.</a:t>
            </a:r>
          </a:p>
          <a:p>
            <a:endParaRPr lang="en-US" sz="1400" dirty="0" smtClean="0"/>
          </a:p>
          <a:p>
            <a:endParaRPr lang="en-US" sz="1400" dirty="0" smtClean="0"/>
          </a:p>
          <a:p>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8600" y="76200"/>
            <a:ext cx="8610600" cy="2893100"/>
          </a:xfrm>
          <a:prstGeom prst="rect">
            <a:avLst/>
          </a:prstGeom>
          <a:noFill/>
        </p:spPr>
        <p:txBody>
          <a:bodyPr wrap="square" rtlCol="0">
            <a:spAutoFit/>
          </a:bodyPr>
          <a:lstStyle/>
          <a:p>
            <a:r>
              <a:rPr lang="en-US" sz="1400" b="1" dirty="0" smtClean="0"/>
              <a:t>Moment 3: 12:16 — India's Wide Delivery</a:t>
            </a:r>
          </a:p>
          <a:p>
            <a:r>
              <a:rPr lang="en-US" sz="1400" b="1" dirty="0" smtClean="0"/>
              <a:t>What happened?</a:t>
            </a:r>
            <a:endParaRPr lang="en-US" sz="1400" dirty="0" smtClean="0"/>
          </a:p>
          <a:p>
            <a:r>
              <a:rPr lang="en-US" sz="1400" dirty="0" err="1" smtClean="0"/>
              <a:t>Manvir</a:t>
            </a:r>
            <a:r>
              <a:rPr lang="en-US" sz="1400" dirty="0" smtClean="0"/>
              <a:t> Singh received the ball and delivered a cross into Brazil's penalty area, but the attack did not produce a successful outcome.</a:t>
            </a:r>
          </a:p>
          <a:p>
            <a:r>
              <a:rPr lang="en-US" sz="1400" b="1" dirty="0" smtClean="0"/>
              <a:t>Tactical Interpretation</a:t>
            </a:r>
            <a:endParaRPr lang="en-US" sz="1400" dirty="0" smtClean="0"/>
          </a:p>
          <a:p>
            <a:r>
              <a:rPr lang="en-US" sz="1400" dirty="0" smtClean="0"/>
              <a:t>The sequence can help assess India's wide attacking approach.</a:t>
            </a:r>
          </a:p>
          <a:p>
            <a:r>
              <a:rPr lang="en-US" sz="1400" dirty="0" smtClean="0"/>
              <a:t>Review the quality and timing of the delivery, the centre-forward's movement, the number of Indian players attacking the box and the availability of a cut-back option.</a:t>
            </a:r>
          </a:p>
          <a:p>
            <a:r>
              <a:rPr lang="en-US" sz="1400" b="1" dirty="0" smtClean="0"/>
              <a:t>Review Focus:</a:t>
            </a:r>
            <a:endParaRPr lang="en-US" sz="1400" dirty="0" smtClean="0"/>
          </a:p>
          <a:p>
            <a:r>
              <a:rPr lang="en-US" sz="1400" dirty="0" smtClean="0"/>
              <a:t>Crossing decisions. </a:t>
            </a:r>
          </a:p>
          <a:p>
            <a:r>
              <a:rPr lang="en-US" sz="1400" dirty="0" smtClean="0"/>
              <a:t>Penalty-area occupation. </a:t>
            </a:r>
          </a:p>
          <a:p>
            <a:r>
              <a:rPr lang="en-US" sz="1400" dirty="0" smtClean="0"/>
              <a:t>Coordinated attacking runs.</a:t>
            </a:r>
          </a:p>
          <a:p>
            <a:endParaRPr lang="en-US" sz="1400" dirty="0"/>
          </a:p>
        </p:txBody>
      </p:sp>
      <p:sp>
        <p:nvSpPr>
          <p:cNvPr id="4" name="TextBox 3"/>
          <p:cNvSpPr txBox="1"/>
          <p:nvPr/>
        </p:nvSpPr>
        <p:spPr>
          <a:xfrm>
            <a:off x="152400" y="2895600"/>
            <a:ext cx="8458200" cy="3539430"/>
          </a:xfrm>
          <a:prstGeom prst="rect">
            <a:avLst/>
          </a:prstGeom>
          <a:noFill/>
        </p:spPr>
        <p:txBody>
          <a:bodyPr wrap="square" rtlCol="0">
            <a:spAutoFit/>
          </a:bodyPr>
          <a:lstStyle/>
          <a:p>
            <a:r>
              <a:rPr lang="en-US" sz="1400" b="1" dirty="0" smtClean="0"/>
              <a:t>Moment 4: 62:59–66:28 — Counterattacking and Combination Play</a:t>
            </a:r>
          </a:p>
          <a:p>
            <a:r>
              <a:rPr lang="en-US" sz="1400" b="1" dirty="0" smtClean="0"/>
              <a:t>What happened?</a:t>
            </a:r>
            <a:endParaRPr lang="en-US" sz="1400" dirty="0" smtClean="0"/>
          </a:p>
          <a:p>
            <a:r>
              <a:rPr lang="en-US" sz="1400" dirty="0" smtClean="0"/>
              <a:t>According to the notes, </a:t>
            </a:r>
            <a:r>
              <a:rPr lang="en-US" sz="1400" dirty="0" err="1" smtClean="0"/>
              <a:t>Riyan</a:t>
            </a:r>
            <a:r>
              <a:rPr lang="en-US" sz="1400" dirty="0" smtClean="0"/>
              <a:t> Williams won possession and advanced towards goal before failing to finish a one-on-one opportunity.</a:t>
            </a:r>
          </a:p>
          <a:p>
            <a:r>
              <a:rPr lang="en-US" sz="1400" dirty="0" smtClean="0"/>
              <a:t>In another sequence, </a:t>
            </a:r>
            <a:r>
              <a:rPr lang="en-US" sz="1400" dirty="0" err="1" smtClean="0"/>
              <a:t>Riyan</a:t>
            </a:r>
            <a:r>
              <a:rPr lang="en-US" sz="1400" dirty="0" smtClean="0"/>
              <a:t> regained the ball, turned towards goal, combined with </a:t>
            </a:r>
            <a:r>
              <a:rPr lang="en-US" sz="1400" dirty="0" err="1" smtClean="0"/>
              <a:t>Manvir</a:t>
            </a:r>
            <a:r>
              <a:rPr lang="en-US" sz="1400" dirty="0" smtClean="0"/>
              <a:t> Singh and received a return pass before shooting wide.</a:t>
            </a:r>
          </a:p>
          <a:p>
            <a:r>
              <a:rPr lang="en-US" sz="1400" b="1" dirty="0" smtClean="0"/>
              <a:t>Tactical Interpretation</a:t>
            </a:r>
            <a:endParaRPr lang="en-US" sz="1400" dirty="0" smtClean="0"/>
          </a:p>
          <a:p>
            <a:r>
              <a:rPr lang="en-US" sz="1400" dirty="0" smtClean="0"/>
              <a:t>These sequences highlight India's potential to create chances after regaining possession and through quick combinations.</a:t>
            </a:r>
          </a:p>
          <a:p>
            <a:r>
              <a:rPr lang="en-US" sz="1400" dirty="0" smtClean="0"/>
              <a:t>Review the first touch, supporting runs, timing of the pass and final decision to identify what helped the attack and what could improve conversion.</a:t>
            </a:r>
          </a:p>
          <a:p>
            <a:r>
              <a:rPr lang="en-US" sz="1400" b="1" dirty="0" smtClean="0"/>
              <a:t>Review Focus:</a:t>
            </a:r>
            <a:endParaRPr lang="en-US" sz="1400" dirty="0" smtClean="0"/>
          </a:p>
          <a:p>
            <a:r>
              <a:rPr lang="en-US" sz="1400" dirty="0" smtClean="0"/>
              <a:t>Transition speed. </a:t>
            </a:r>
          </a:p>
          <a:p>
            <a:r>
              <a:rPr lang="en-US" sz="1400" dirty="0" smtClean="0"/>
              <a:t>Support around the ball. </a:t>
            </a:r>
          </a:p>
          <a:p>
            <a:r>
              <a:rPr lang="en-US" sz="1400" dirty="0" smtClean="0"/>
              <a:t>Final-third decision-making.</a:t>
            </a:r>
          </a:p>
          <a:p>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609600"/>
            <a:ext cx="8305800" cy="4154984"/>
          </a:xfrm>
          <a:prstGeom prst="rect">
            <a:avLst/>
          </a:prstGeom>
          <a:noFill/>
        </p:spPr>
        <p:txBody>
          <a:bodyPr wrap="square" rtlCol="0">
            <a:spAutoFit/>
          </a:bodyPr>
          <a:lstStyle/>
          <a:p>
            <a:pPr algn="ctr"/>
            <a:r>
              <a:rPr lang="en-US" sz="2000" b="1" u="sng" dirty="0" smtClean="0"/>
              <a:t>ADDITIONAL EVENTS AND COACHING IMPLICATIONS</a:t>
            </a:r>
          </a:p>
          <a:p>
            <a:pPr algn="ctr"/>
            <a:endParaRPr lang="en-US" sz="2000" b="1" u="sng" dirty="0" smtClean="0"/>
          </a:p>
          <a:p>
            <a:r>
              <a:rPr lang="en-US" sz="1400" b="1" dirty="0" smtClean="0"/>
              <a:t>14:32–14:52 — Direct Ball Towards </a:t>
            </a:r>
            <a:r>
              <a:rPr lang="en-US" sz="1400" b="1" dirty="0" err="1" smtClean="0"/>
              <a:t>Manvir</a:t>
            </a:r>
            <a:r>
              <a:rPr lang="en-US" sz="1400" b="1" dirty="0" smtClean="0"/>
              <a:t> Singh</a:t>
            </a:r>
          </a:p>
          <a:p>
            <a:r>
              <a:rPr lang="en-US" sz="1400" b="1" dirty="0" smtClean="0"/>
              <a:t>Observation:</a:t>
            </a:r>
            <a:r>
              <a:rPr lang="en-US" sz="1400" dirty="0" smtClean="0"/>
              <a:t> A direct ball towards </a:t>
            </a:r>
            <a:r>
              <a:rPr lang="en-US" sz="1400" dirty="0" err="1" smtClean="0"/>
              <a:t>Manvir</a:t>
            </a:r>
            <a:r>
              <a:rPr lang="en-US" sz="1400" dirty="0" smtClean="0"/>
              <a:t> Singh was followed by a shot over the goal, according to the notes.</a:t>
            </a:r>
          </a:p>
          <a:p>
            <a:r>
              <a:rPr lang="en-US" sz="1400" b="1" dirty="0" smtClean="0"/>
              <a:t>Tactical Question:</a:t>
            </a:r>
            <a:r>
              <a:rPr lang="en-US" sz="1400" dirty="0" smtClean="0"/>
              <a:t> Did the pass bypass midfield pressure, and did the forward have sufficient support for a lay-off or second ball?</a:t>
            </a:r>
          </a:p>
          <a:p>
            <a:r>
              <a:rPr lang="en-US" sz="1400" b="1" dirty="0" smtClean="0"/>
              <a:t>43:42 — Brazil Attacking Sequence</a:t>
            </a:r>
          </a:p>
          <a:p>
            <a:r>
              <a:rPr lang="en-US" sz="1400" b="1" dirty="0" smtClean="0"/>
              <a:t>Observation:</a:t>
            </a:r>
            <a:r>
              <a:rPr lang="en-US" sz="1400" dirty="0" smtClean="0"/>
              <a:t> A Brazil attack involving </a:t>
            </a:r>
            <a:r>
              <a:rPr lang="en-US" sz="1400" dirty="0" err="1" smtClean="0"/>
              <a:t>Vinícius</a:t>
            </a:r>
            <a:r>
              <a:rPr lang="en-US" sz="1400" dirty="0" smtClean="0"/>
              <a:t> </a:t>
            </a:r>
            <a:r>
              <a:rPr lang="en-US" sz="1400" dirty="0" err="1" smtClean="0"/>
              <a:t>Júnior</a:t>
            </a:r>
            <a:r>
              <a:rPr lang="en-US" sz="1400" dirty="0" smtClean="0"/>
              <a:t> and a pass to Andrew was noted, with the final attempt missed.</a:t>
            </a:r>
          </a:p>
          <a:p>
            <a:r>
              <a:rPr lang="en-US" sz="1400" b="1" dirty="0" smtClean="0"/>
              <a:t>Tactical Question:</a:t>
            </a:r>
            <a:r>
              <a:rPr lang="en-US" sz="1400" dirty="0" smtClean="0"/>
              <a:t> Was India's defensive action effective, and were the cover and recovery positions appropriate?</a:t>
            </a:r>
          </a:p>
          <a:p>
            <a:r>
              <a:rPr lang="en-US" sz="1400" b="1" dirty="0" smtClean="0"/>
              <a:t>54:09 — </a:t>
            </a:r>
            <a:r>
              <a:rPr lang="en-US" sz="1400" b="1" dirty="0" err="1" smtClean="0"/>
              <a:t>Manvir</a:t>
            </a:r>
            <a:r>
              <a:rPr lang="en-US" sz="1400" b="1" dirty="0" smtClean="0"/>
              <a:t> Singh's Shot</a:t>
            </a:r>
          </a:p>
          <a:p>
            <a:r>
              <a:rPr lang="en-US" sz="1400" b="1" dirty="0" smtClean="0"/>
              <a:t>Observation:</a:t>
            </a:r>
            <a:r>
              <a:rPr lang="en-US" sz="1400" dirty="0" smtClean="0"/>
              <a:t> </a:t>
            </a:r>
            <a:r>
              <a:rPr lang="en-US" sz="1400" dirty="0" err="1" smtClean="0"/>
              <a:t>Manvir</a:t>
            </a:r>
            <a:r>
              <a:rPr lang="en-US" sz="1400" dirty="0" smtClean="0"/>
              <a:t> Singh received the ball under pressure and shot, with the attempt saved.</a:t>
            </a:r>
          </a:p>
          <a:p>
            <a:r>
              <a:rPr lang="en-US" sz="1400" b="1" dirty="0" smtClean="0"/>
              <a:t>Tactical Question:</a:t>
            </a:r>
            <a:r>
              <a:rPr lang="en-US" sz="1400" dirty="0" smtClean="0"/>
              <a:t> How much space was available, how quickly did the defenders apply pressure, and was shooting the best available option?</a:t>
            </a:r>
          </a:p>
          <a:p>
            <a:r>
              <a:rPr lang="en-US" sz="1400" b="1" dirty="0" smtClean="0"/>
              <a:t>57:20 — Possible Possession Loss Before a Brazil Goal</a:t>
            </a:r>
          </a:p>
          <a:p>
            <a:r>
              <a:rPr lang="en-US" sz="1400" b="1" dirty="0" smtClean="0"/>
              <a:t>Observation:</a:t>
            </a:r>
            <a:r>
              <a:rPr lang="en-US" sz="1400" dirty="0" smtClean="0"/>
              <a:t> The notes mention an Indian possession loss or misplaced pass before a Brazil goal.</a:t>
            </a:r>
          </a:p>
          <a:p>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762000"/>
            <a:ext cx="5867400" cy="3231654"/>
          </a:xfrm>
          <a:prstGeom prst="rect">
            <a:avLst/>
          </a:prstGeom>
          <a:noFill/>
        </p:spPr>
        <p:txBody>
          <a:bodyPr wrap="square" rtlCol="0">
            <a:spAutoFit/>
          </a:bodyPr>
          <a:lstStyle/>
          <a:p>
            <a:pPr algn="ctr"/>
            <a:r>
              <a:rPr lang="en-US" sz="3200" b="1" u="sng" dirty="0" smtClean="0"/>
              <a:t>Conclusion</a:t>
            </a:r>
          </a:p>
          <a:p>
            <a:pPr algn="ctr"/>
            <a:endParaRPr lang="en-US" sz="3200" b="1" u="sng" dirty="0" smtClean="0"/>
          </a:p>
          <a:p>
            <a:r>
              <a:rPr lang="en-US" sz="1400" dirty="0" smtClean="0"/>
              <a:t>The observations suggest that India had promising attacking routes through wide areas, direct progression and quick transitions, while also facing periods of pressure around the penalty area.</a:t>
            </a:r>
          </a:p>
          <a:p>
            <a:r>
              <a:rPr lang="en-US" sz="1400" dirty="0" smtClean="0"/>
              <a:t>The next step is to connect each conclusion to repeatable evidence from the match footage.</a:t>
            </a:r>
          </a:p>
          <a:p>
            <a:r>
              <a:rPr lang="en-US" sz="1400" dirty="0" smtClean="0"/>
              <a:t>A concise clip library containing timestamps, annotated screenshots and clear coaching points will make this report more useful to coaching staff.</a:t>
            </a:r>
          </a:p>
          <a:p>
            <a:r>
              <a:rPr lang="en-US" sz="1400" dirty="0" smtClean="0"/>
              <a:t>The objective is not only to describe what happened during the match, but also to explain </a:t>
            </a:r>
            <a:r>
              <a:rPr lang="en-US" sz="1400" b="1" dirty="0" smtClean="0"/>
              <a:t>why it happened and what the team could improve.</a:t>
            </a:r>
            <a:endParaRPr lang="en-US" sz="1400" dirty="0" smtClean="0"/>
          </a:p>
          <a:p>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1013</Words>
  <Application>Microsoft Office PowerPoint</Application>
  <PresentationFormat>On-screen Show (4:3)</PresentationFormat>
  <Paragraphs>91</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POST-MATCH PERFORMANCE AND TACTICAL ANALYSIS</vt:lpstr>
      <vt:lpstr>Slide 2</vt:lpstr>
      <vt:lpstr>Slide 3</vt:lpstr>
      <vt:lpstr>KEY MATCH MOMENTS</vt:lpstr>
      <vt:lpstr>Slide 5</vt:lpstr>
      <vt:lpstr>Slide 6</vt:lpstr>
      <vt:lpstr>Slide 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POST-MATCH PERFORMANCE AND TACTICAL ANALYSIS</dc:title>
  <dc:creator>Admin</dc:creator>
  <cp:lastModifiedBy>Admin</cp:lastModifiedBy>
  <cp:revision>6</cp:revision>
  <dcterms:created xsi:type="dcterms:W3CDTF">2026-10-14T13:30:58Z</dcterms:created>
  <dcterms:modified xsi:type="dcterms:W3CDTF">2026-10-14T14:28:44Z</dcterms:modified>
</cp:coreProperties>
</file>